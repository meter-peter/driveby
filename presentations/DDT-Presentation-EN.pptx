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27432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Documentation-Driven Testing (DDT)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96C7"/>
                </a:solidFill>
                <a:latin typeface="Segoe UI"/>
              </a:defRPr>
            </a:pPr>
            <a:r>
              <a:t>A Paradigm for Automated API Quality Assurance</a:t>
            </a:r>
            <a:br/>
            <a:r>
              <a:t>in the GitOps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  <a:latin typeface="Segoe UI"/>
              </a:defRPr>
            </a:pPr>
            <a:r>
              <a:t>Petros Evangelos Triantafyllis  |  Supervisor: Kyriakos Kritikos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University of the Aegean -- Dept. of Information and Communication Systems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96C7"/>
                </a:solidFill>
                <a:latin typeface="Consolas"/>
              </a:defRPr>
            </a:pPr>
            <a:r>
              <a:t>DriveBy</a:t>
            </a:r>
          </a:p>
        </p:txBody>
      </p:sp>
      <p:pic>
        <p:nvPicPr>
          <p:cNvPr id="9" name="Picture 8" descr="uo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86400"/>
            <a:ext cx="2286000" cy="640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0096C7"/>
                </a:solidFill>
                <a:latin typeface="Segoe UI"/>
              </a:defRPr>
            </a:pPr>
            <a:r>
              <a:t>"Documentation drift is not a symptom of laziness. It is a systemic failure rooted in the separation of two artifacts -- the specification and the implementation -- that should be governed by a single source of truth."  -- Chapter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383280" cy="64008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Form, Not Substance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Existing tools (Spectral, Vacuum, Redocly) enforce structural rules but cannot verify described behavior matches implementation. No tool combines static + runtime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926080"/>
            <a:ext cx="3383280" cy="64008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Tribal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Configuration lives in scripts, CI pipelines, or developer knowledge. Only structured, machine-readable knowledge can be automated or consumed by AI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926080"/>
            <a:ext cx="3383280" cy="64008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Hours of ClickOps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Setting up quality gates requires navigating ArgoCD UI, GitHub UI, and kubectl manually. Non-reproducible, non-versionable, error-prone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if the documentation itself</a:t>
            </a:r>
            <a:br/>
            <a:r>
              <a:t>could BE the testing infrastructure?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383280"/>
            <a:ext cx="301752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96C7"/>
                </a:solidFill>
                <a:latin typeface="Segoe UI"/>
              </a:defRPr>
            </a:pPr>
            <a:r>
              <a:t>The specification is simultaneously the documentation,</a:t>
            </a:r>
            <a:br/>
            <a:r>
              <a:t>the contract, and the test oracle.</a:t>
            </a:r>
            <a:br/>
            <a:r>
              <a:t>-- Chapter 4, CLI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DDT Methodology -- Three Axioms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Completeness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"The API specification must fully describe the API contract"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747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Operationalized by:</a:t>
            </a:r>
            <a:br/>
            <a:r>
              <a:t>P001 OpenAPI Compliance</a:t>
            </a:r>
            <a:br/>
            <a:r>
              <a:t>P002 Documentation Quality</a:t>
            </a:r>
            <a:br/>
            <a:r>
              <a:t>P003 Error Handling</a:t>
            </a:r>
            <a:br/>
            <a:r>
              <a:t>P004 Schema Definitions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Determinism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"Same specification + same API = same validation results"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747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Operationalized by:</a:t>
            </a:r>
            <a:br/>
            <a:r>
              <a:t>P006 Functional Testing</a:t>
            </a:r>
            <a:br/>
            <a:r>
              <a:t>P009 Test Readiness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Segoe UI"/>
              </a:defRPr>
            </a:pPr>
            <a:r>
              <a:t>"Validation produces measurable, actionable results"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4747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Operationalized by:</a:t>
            </a:r>
            <a:br/>
            <a:r>
              <a:t>P005 Security Standards</a:t>
            </a:r>
            <a:br/>
            <a:r>
              <a:t>P007 Performance Testing</a:t>
            </a:r>
            <a:br/>
            <a:r>
              <a:t>P008 Versioning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3 Axioms  --&gt;  9 Principles (P001-P009)  --&gt;  4 Validation Modes (minimal, test-ready, strict, test-only)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APISpec Abstraction Layer (Ch.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type APISpec interface {</a:t>
            </a:r>
            <a:br/>
            <a:r>
              <a:t>    Type() SpecType</a:t>
            </a:r>
            <a:br/>
            <a:r>
              <a:t>    RawVersion() string</a:t>
            </a:r>
            <a:br/>
            <a:r>
              <a:t>    Info() *SpecInfo</a:t>
            </a:r>
            <a:br/>
            <a:r>
              <a:t>    Paths() map[string]*PathItem</a:t>
            </a:r>
            <a:br/>
            <a:r>
              <a:t>    Components() *Components</a:t>
            </a:r>
            <a:br/>
            <a:r>
              <a:t>    Security() []SecurityRequirement</a:t>
            </a:r>
            <a:br/>
            <a:r>
              <a:t>    ValidateStructure(ctx) error</a:t>
            </a:r>
            <a:br/>
            <a:r>
              <a:t>}</a:t>
            </a:r>
            <a:br/>
            <a:br/>
            <a:r>
              <a:t>// Adapter pattern (GoF):</a:t>
            </a:r>
            <a:br/>
            <a:r>
              <a:t>// openapi3.go  -&gt; OpenAPI 3.0.x, 3.1.0</a:t>
            </a:r>
            <a:br/>
            <a:r>
              <a:t>// swagger2.go  -&gt; Swagger 2.0</a:t>
            </a:r>
            <a:br/>
            <a:r>
              <a:t>// No raw *openapi3.T in validators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  <a:latin typeface="Segoe UI"/>
              </a:defRPr>
            </a:pPr>
            <a:r>
              <a:t>Adapter pattern (GoF) -- version-agnostic validation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  <a:latin typeface="Segoe UI"/>
              </a:defRPr>
            </a:pPr>
            <a:r>
              <a:t>OpenAPI 3.0.x, 3.1.0, Swagger 2.0 -- same checkers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  <a:latin typeface="Segoe UI"/>
              </a:defRPr>
            </a:pPr>
            <a:r>
              <a:t>No raw *openapi3.T in any validator -- enforced by interface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  <a:latin typeface="Segoe UI"/>
              </a:defRPr>
            </a:pPr>
            <a:r>
              <a:t>Preprocessing: nullable anyOf rewrite, exclusive min/max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  <a:latin typeface="Segoe UI"/>
              </a:defRPr>
            </a:pPr>
            <a:r>
              <a:t>Recursive schema normalization (allOf, oneOf, anyOf)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  <a:latin typeface="Segoe UI"/>
              </a:defRPr>
            </a:pPr>
            <a:r>
              <a:t>FlattenAllOf utility for composed schemas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  <a:latin typeface="Segoe UI"/>
              </a:defRPr>
            </a:pPr>
            <a:r>
              <a:t>Adding AsyncAPI/gRPC = implement interface, no checker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PrincipleChecker Pattern (Ch.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type PrincipleChecker interface {</a:t>
            </a:r>
            <a:br/>
            <a:r>
              <a:t>    ID() string</a:t>
            </a:r>
            <a:br/>
            <a:r>
              <a:t>    Check(ctx, spec.APISpec,</a:t>
            </a:r>
            <a:br/>
            <a:r>
              <a:t>          mode ValidationMode) PrincipleResult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ECC71"/>
                </a:solidFill>
                <a:latin typeface="Consolas"/>
              </a:defRPr>
            </a:pPr>
            <a:r>
              <a:t>func (r *Registry) ForMode(mode) []PrincipleChecker {</a:t>
            </a:r>
            <a:br/>
            <a:r>
              <a:t>  switch mode {</a:t>
            </a:r>
            <a:br/>
            <a:r>
              <a:t>  case Minimal:   return {P001}</a:t>
            </a:r>
            <a:br/>
            <a:r>
              <a:t>  case TestReady: return {P001, P004, P009}</a:t>
            </a:r>
            <a:br/>
            <a:r>
              <a:t>  case Strict:    return {P001, P002, P003,</a:t>
            </a:r>
            <a:br/>
            <a:r>
              <a:t>                          P004, P005, P008}</a:t>
            </a:r>
            <a:br/>
            <a:r>
              <a:t>  case TestOnly:  return nil // runtime only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Segoe UI"/>
              </a:defRPr>
            </a:pPr>
            <a:r>
              <a:t>Checker Implementations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Consolas"/>
              </a:defRPr>
            </a:pPr>
            <a:r>
              <a:t>p001_compliance.go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920240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1920240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180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359152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359152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Consolas"/>
              </a:defRPr>
            </a:pPr>
            <a:r>
              <a:t>p002_documentation.go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2359152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359152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197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98064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798064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Consolas"/>
              </a:defRPr>
            </a:pPr>
            <a:r>
              <a:t>p003_errors.go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2798064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2798064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234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236976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236976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Consolas"/>
              </a:defRPr>
            </a:pPr>
            <a:r>
              <a:t>p004_schema.go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3236976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0" y="3236976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432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675888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3675888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Consolas"/>
              </a:defRPr>
            </a:pPr>
            <a:r>
              <a:t>p005_security.go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3675888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0" y="3675888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221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114800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4114800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Consolas"/>
              </a:defRPr>
            </a:pPr>
            <a:r>
              <a:t>p008_versioning.go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4114800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0" y="4114800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553712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553712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Consolas"/>
              </a:defRPr>
            </a:pPr>
            <a:r>
              <a:t>p009_test_readiness.go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4553712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0" y="4553712"/>
            <a:ext cx="640080" cy="36576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120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Segoe UI"/>
              </a:defRPr>
            </a:pPr>
            <a:r>
              <a:t>Total: 7 checkers, 52 checks, 1,615 LOC</a:t>
            </a:r>
            <a:br/>
            <a:r>
              <a:t>Strategy pattern (GoF): each checker interchangeable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The Validation Engine (Ch.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0" cy="384048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ECC71"/>
                </a:solidFill>
                <a:latin typeface="Consolas"/>
              </a:defRPr>
            </a:pPr>
            <a:r>
              <a:t>func (e *Engine) ValidateSpec(ctx) (*ValidationReport, error) {</a:t>
            </a:r>
            <a:br/>
            <a:r>
              <a:t>    // Step 1: Load and normalize the specification</a:t>
            </a:r>
            <a:br/>
            <a:r>
              <a:t>    err := e.loader.LoadFromFileOrURL(e.config.SpecPath)</a:t>
            </a:r>
            <a:br/>
            <a:r>
              <a:t>    doc := e.loader.GetDocument()</a:t>
            </a:r>
            <a:br/>
            <a:br/>
            <a:r>
              <a:t>    // Step 2: Initialize report</a:t>
            </a:r>
            <a:br/>
            <a:r>
              <a:t>    report := &amp;ValidationReport{</a:t>
            </a:r>
            <a:br/>
            <a:r>
              <a:t>        Version: e.config.Version,</a:t>
            </a:r>
            <a:br/>
            <a:r>
              <a:t>        Timestamp: time.Now(),</a:t>
            </a:r>
            <a:br/>
            <a:r>
              <a:t>    }</a:t>
            </a:r>
            <a:br/>
            <a:br/>
            <a:r>
              <a:t>    // Step 3: Select and run principle checkers</a:t>
            </a:r>
            <a:br/>
            <a:r>
              <a:t>    checkers := e.registry.ForMode(e.config.ValidationMode)</a:t>
            </a:r>
            <a:br/>
            <a:r>
              <a:t>    for _, checker := range checkers {</a:t>
            </a:r>
            <a:br/>
            <a:r>
              <a:t>        result := checker.Check(ctx, doc, mode)</a:t>
            </a:r>
            <a:br/>
            <a:r>
              <a:t>        report.Principles = append(report.Principles, result)</a:t>
            </a:r>
            <a:br/>
            <a:r>
              <a:t>    }</a:t>
            </a:r>
            <a:br/>
            <a:br/>
            <a:r>
              <a:t>    // Step 4: Compute summary</a:t>
            </a:r>
            <a:br/>
            <a:r>
              <a:t>    updateSummary(report)</a:t>
            </a:r>
            <a:br/>
            <a:r>
              <a:t>    return report, nil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2C2C"/>
                </a:solidFill>
                <a:latin typeface="Segoe UI"/>
              </a:defRPr>
            </a:pPr>
            <a:r>
              <a:t>Dependency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C2C2C"/>
                </a:solidFill>
                <a:latin typeface="Consolas"/>
              </a:defRPr>
            </a:pPr>
            <a:r>
              <a:t>types    (655 LOC)  -- zero deps</a:t>
            </a:r>
          </a:p>
          <a:p>
            <a:pPr>
              <a:spcAft>
                <a:spcPts val="800"/>
              </a:spcAft>
              <a:defRPr sz="1200" b="0">
                <a:solidFill>
                  <a:srgbClr val="2C2C2C"/>
                </a:solidFill>
                <a:latin typeface="Consolas"/>
              </a:defRPr>
            </a:pPr>
            <a:r>
              <a:t>spec     (831 LOC)  -- APISpec + adapters</a:t>
            </a:r>
          </a:p>
          <a:p>
            <a:pPr>
              <a:spcAft>
                <a:spcPts val="800"/>
              </a:spcAft>
              <a:defRPr sz="1200" b="0">
                <a:solidFill>
                  <a:srgbClr val="2C2C2C"/>
                </a:solidFill>
                <a:latin typeface="Consolas"/>
              </a:defRPr>
            </a:pPr>
            <a:r>
              <a:t>loader   (322 LOC)  -- version detection</a:t>
            </a:r>
          </a:p>
          <a:p>
            <a:pPr>
              <a:spcAft>
                <a:spcPts val="800"/>
              </a:spcAft>
              <a:defRPr sz="1200" b="0">
                <a:solidFill>
                  <a:srgbClr val="2C2C2C"/>
                </a:solidFill>
                <a:latin typeface="Consolas"/>
              </a:defRPr>
            </a:pPr>
            <a:r>
              <a:t>principles (1,690 LOC) -- 7 checkers</a:t>
            </a:r>
          </a:p>
          <a:p>
            <a:pPr>
              <a:spcAft>
                <a:spcPts val="800"/>
              </a:spcAft>
              <a:defRPr sz="1200" b="0">
                <a:solidFill>
                  <a:srgbClr val="2C2C2C"/>
                </a:solidFill>
                <a:latin typeface="Consolas"/>
              </a:defRPr>
            </a:pPr>
            <a:r>
              <a:t>testing  (860 LOC)  -- P006 + P007</a:t>
            </a:r>
          </a:p>
          <a:p>
            <a:pPr>
              <a:spcAft>
                <a:spcPts val="800"/>
              </a:spcAft>
              <a:defRPr sz="1200" b="0">
                <a:solidFill>
                  <a:srgbClr val="2C2C2C"/>
                </a:solidFill>
                <a:latin typeface="Consolas"/>
              </a:defRPr>
            </a:pPr>
            <a:r>
              <a:t>engine   (117 LOC)  -- orchestrator</a:t>
            </a:r>
          </a:p>
          <a:p>
            <a:pPr>
              <a:spcAft>
                <a:spcPts val="800"/>
              </a:spcAft>
              <a:defRPr sz="1200" b="0">
                <a:solidFill>
                  <a:srgbClr val="2C2C2C"/>
                </a:solidFill>
                <a:latin typeface="Consolas"/>
              </a:defRPr>
            </a:pPr>
            <a:r>
              <a:t>cli      (907 LOC)  -- Cobra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7548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Deterministic by construction: same spec + mode =</a:t>
            </a:r>
            <a:br/>
            <a:r>
              <a:t>same checkers in same order = same results.</a:t>
            </a:r>
            <a:br/>
            <a:r>
              <a:t>Only non-deterministic element: timestamp.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From CLI to Custom Resource (Ch.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" cy="64008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37160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Shell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Ad-hoc string matches, no structure, no reuse, no determinism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640080" cy="6400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37744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Go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Typed principles, APISpec abstraction, deterministic engine, JSON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640080" cy="6400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38328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Container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747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Same binary in any container runtime (Docker, containerd, CRI-O)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640080" cy="6400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438912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Argo Workflow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805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Event-driven execution, DAG ordering, artifact persistence, exit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640080" cy="6400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539496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Crossplane CRD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4864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~25 YAML lines --&gt; ~44 resources in &lt;15s. Reconciled. Self-healing.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6072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096C7"/>
                </a:solidFill>
                <a:latin typeface="Segoe UI"/>
              </a:defRPr>
            </a:pPr>
            <a:r>
              <a:t>"Each stage subsumes the previous. The CR still runs the same CLI, inside the same container, as a step in the same DAG." -- Ch.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XSDLC: 25 Lines of YAML (Ch.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ECC71"/>
                </a:solidFill>
                <a:latin typeface="Consolas"/>
              </a:defRPr>
            </a:pPr>
            <a:r>
              <a:t>apiVersion: driveby.io/v1alpha1</a:t>
            </a:r>
            <a:br/>
            <a:r>
              <a:t>kind: XSDLC</a:t>
            </a:r>
            <a:br/>
            <a:r>
              <a:t>metadata:</a:t>
            </a:r>
            <a:br/>
            <a:r>
              <a:t>  name: perfect-api</a:t>
            </a:r>
            <a:br/>
            <a:r>
              <a:t>  namespace: driveby</a:t>
            </a:r>
            <a:br/>
            <a:r>
              <a:t>spec:</a:t>
            </a:r>
            <a:br/>
            <a:r>
              <a:t>  gitopsRepository:</a:t>
            </a:r>
            <a:br/>
            <a:r>
              <a:t>    owner: novelcore</a:t>
            </a:r>
            <a:br/>
            <a:r>
              <a:t>    name: perfect-api-gitops</a:t>
            </a:r>
            <a:br/>
            <a:r>
              <a:t>  environments:</a:t>
            </a:r>
            <a:br/>
            <a:r>
              <a:t>    - name: dev</a:t>
            </a:r>
            <a:br/>
            <a:r>
              <a:t>    - name: staging</a:t>
            </a:r>
            <a:br/>
            <a:r>
              <a:t>      gate:</a:t>
            </a:r>
            <a:br/>
            <a:r>
              <a:t>        checks:</a:t>
            </a:r>
            <a:br/>
            <a:r>
              <a:t>          - type: validate-only</a:t>
            </a:r>
            <a:br/>
            <a:r>
              <a:t>          - type: functional-test</a:t>
            </a:r>
            <a:br/>
            <a:r>
              <a:t>    - name: prod</a:t>
            </a:r>
            <a:br/>
            <a:r>
              <a:t>      autoMerge: false</a:t>
            </a:r>
            <a:br/>
            <a:r>
              <a:t>      gate:</a:t>
            </a:r>
            <a:br/>
            <a:r>
              <a:t>        checks:</a:t>
            </a:r>
            <a:br/>
            <a:r>
              <a:t>          - type: validate-only</a:t>
            </a:r>
            <a:br/>
            <a:r>
              <a:t>          - type: load-test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Segoe UI"/>
              </a:defRPr>
            </a:pPr>
            <a:r>
              <a:t>Generated Resources (~44 total)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App-level (once per CR)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GitOps Repository (auto-created, NO software repo ref)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RepositoryFiles (dry/base/ boilerplate manifests)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ServiceAccount + EventBus (NATS JetStream)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ArgoCD push secret + ScmProvider + GitRepository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BranchProtection (*-next branches)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Per-environment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PromotionStrategy + 2 Branches + Kustomize overlay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ArgoCD Application (sourceHydrator per overlay)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ghcr-creds secret (image pull auth)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12064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Per-gate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Role + RoleBinding (RBAC)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WorkflowTemplate (validation DAG)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126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EventSource + Sensor + Service + Ingress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onsolas"/>
              </a:defRPr>
            </a:pPr>
            <a:r>
              <a:t>BranchProtection (require gate status check)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The Reconciliation Loop (Ch.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Edge-triggered (Events)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Segoe UI"/>
              </a:defRPr>
            </a:pPr>
            <a:r>
              <a:t>Reacts to state changes as they happen.</a:t>
            </a:r>
            <a:br/>
            <a:r>
              <a:t>If it misses one (crash, restart, partition)</a:t>
            </a:r>
            <a:br/>
            <a:r>
              <a:t>the missed event is lost forever.</a:t>
            </a:r>
            <a:br/>
            <a:r>
              <a:t>Must record every event.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Level-triggered (State)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Segoe UI"/>
              </a:defRPr>
            </a:pPr>
            <a:r>
              <a:t>Periodically re-evaluates current condition.</a:t>
            </a:r>
            <a:br/>
            <a:r>
              <a:t>If controller crashes and restarts, it re-reads</a:t>
            </a:r>
            <a:br/>
            <a:r>
              <a:t>current state and reconciles from scratch.</a:t>
            </a:r>
            <a:br/>
            <a:r>
              <a:t>No events need to be recorded.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2C2C"/>
                </a:solidFill>
                <a:latin typeface="Segoe UI"/>
              </a:defRPr>
            </a:pPr>
            <a:r>
              <a:t>Declarative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Day 0: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Segoe UI"/>
              </a:defRPr>
            </a:pPr>
            <a:r>
              <a:t>Helm chart installs XRD,</a:t>
            </a:r>
            <a:br/>
            <a:r>
              <a:t>composition, ProviderConfigs.</a:t>
            </a:r>
            <a:br/>
            <a:r>
              <a:t>No XSDLC instances yet.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48056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Day 1: 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1206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Segoe UI"/>
              </a:defRPr>
            </a:pPr>
            <a:r>
              <a:t>Apply XSDLC CR.</a:t>
            </a:r>
            <a:br/>
            <a:r>
              <a:t>~44 resources generated</a:t>
            </a:r>
            <a:br/>
            <a:r>
              <a:t>in &lt;15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48056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Day 2: Reconcile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1206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Segoe UI"/>
              </a:defRPr>
            </a:pPr>
            <a:r>
              <a:t>Drift detection: overwrites</a:t>
            </a:r>
            <a:br/>
            <a:r>
              <a:t>manual changes. Self-healing:</a:t>
            </a:r>
            <a:br/>
            <a:r>
              <a:t>re-creates deleted resources.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48056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Day N: Update/Delete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1206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Segoe UI"/>
              </a:defRPr>
            </a:pPr>
            <a:r>
              <a:t>Modify spec --&gt; delta reconcile.</a:t>
            </a:r>
            <a:br/>
            <a:r>
              <a:t>Delete CR --&gt; cascade delete</a:t>
            </a:r>
            <a:br/>
            <a:r>
              <a:t>(orphan shared resources).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BYOCI Delivery Pipeline (Ch. 5/6)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6C7"/>
                </a:solidFill>
                <a:latin typeface="Segoe UI"/>
              </a:defRPr>
            </a:pPr>
            <a:r>
              <a:t>Bring Your Own CI: XSDLC owns ONLY delivery (promotion, gates, environments). Developer owns everything else (build, test, image, CI).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GitOps Repo (auto-created by XSDLC)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XSDLC auto-creates a dedicated gitops repo per app</a:t>
            </a:r>
          </a:p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dry/base/ + dry/overlays/&lt;env&gt;/ (Kustomize)</a:t>
            </a:r>
          </a:p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ArgoCD Source Hydrator renders per-env overlays</a:t>
            </a:r>
          </a:p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Promoter creates merge PRs: staging-next -&gt; staging</a:t>
            </a:r>
          </a:p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Developer commits manifests to main -- that's the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Developer's Responsibility (NOT XSDLC)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Source code, application logic, unit tests</a:t>
            </a:r>
          </a:p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CI pipeline: build, test, publish image</a:t>
            </a:r>
          </a:p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Any CI system: GitHub Actions, GitLab, Jenkins, bash</a:t>
            </a:r>
          </a:p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XSDLC has ZERO visibility into developer's CI</a:t>
            </a:r>
          </a:p>
          <a:p>
            <a:pPr>
              <a:spcAft>
                <a:spcPts val="6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No software repo reference needed in XSDLC 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Dev commits</a:t>
            </a:r>
            <a:br/>
            <a:r>
              <a:t>manifests</a:t>
            </a:r>
            <a:br/>
            <a:r>
              <a:t>to 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5303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Hydrator</a:t>
            </a:r>
            <a:br/>
            <a:r>
              <a:t>renders</a:t>
            </a:r>
            <a:br/>
            <a:r>
              <a:t>overlays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5303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Promoter</a:t>
            </a:r>
            <a:br/>
            <a:r>
              <a:t>opens PR</a:t>
            </a:r>
            <a:br/>
            <a:r>
              <a:t>(env-next)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5303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Gate fires</a:t>
            </a:r>
            <a:br/>
            <a:r>
              <a:t>DriveBy</a:t>
            </a:r>
            <a:br/>
            <a:r>
              <a:t>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5303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Auto-merge</a:t>
            </a:r>
            <a:br/>
            <a:r>
              <a:t>&amp; ArgoCD</a:t>
            </a:r>
            <a:br/>
            <a:r>
              <a:t>sync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Controlled Evaluation (Ch. 7)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2C2C"/>
                </a:solidFill>
                <a:latin typeface="Segoe UI"/>
              </a:defRPr>
            </a:pPr>
            <a:r>
              <a:t>Defect Injection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31520" cy="347472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737360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Duplicate operationId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737360"/>
            <a:ext cx="457200" cy="34747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21408"/>
            <a:ext cx="731520" cy="347472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P002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121408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Remove all descriptions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121408"/>
            <a:ext cx="457200" cy="34747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05456"/>
            <a:ext cx="731520" cy="347472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P003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505456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Remove all 4xx/5xx 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505456"/>
            <a:ext cx="457200" cy="34747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9504"/>
            <a:ext cx="731520" cy="347472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P004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2889504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Remove schema type specifications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889504"/>
            <a:ext cx="457200" cy="34747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73552"/>
            <a:ext cx="731520" cy="347472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P005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3273552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Remove securitySchemes entirely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3273552"/>
            <a:ext cx="457200" cy="34747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731520" cy="347472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P008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3657600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Version = "latest" (non-semver)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657600"/>
            <a:ext cx="457200" cy="34747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41648"/>
            <a:ext cx="731520" cy="347472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P009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4041648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Remove all examples + types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041648"/>
            <a:ext cx="457200" cy="34747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2C2C"/>
                </a:solidFill>
                <a:latin typeface="Segoe UI"/>
              </a:defRPr>
            </a:pPr>
            <a:r>
              <a:t>Baseline: perfect-api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7373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Minimal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173736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P001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173736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1/1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28600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Test-ready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28600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P001, P004, P009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22860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3/3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83464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Strict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283464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P001-P005, P008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07040" y="283464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6/6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47472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100% detection, 0 false positives</a:t>
            </a:r>
            <a:br/>
            <a:r>
              <a:t>0 false negatives, deterministic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2C2C"/>
                </a:solidFill>
                <a:latin typeface="Segoe UI"/>
              </a:defRPr>
            </a:pPr>
            <a:r>
              <a:t>Severity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C2C2C"/>
                </a:solidFill>
                <a:latin typeface="Segoe UI"/>
              </a:defRPr>
            </a:pPr>
            <a:r>
              <a:t>Critical (2/9): P001 OpenAPI Compliance, P005 Security Standards --&gt; exit code 1, blocks promotion</a:t>
            </a:r>
          </a:p>
          <a:p>
            <a:pPr>
              <a:spcAft>
                <a:spcPts val="600"/>
              </a:spcAft>
              <a:defRPr sz="1200" b="0">
                <a:solidFill>
                  <a:srgbClr val="2C2C2C"/>
                </a:solidFill>
                <a:latin typeface="Segoe UI"/>
              </a:defRPr>
            </a:pPr>
            <a:r>
              <a:t>Warning (7/9): P002-P004, P008, P009 --&gt; exit code 0, reported but non-blocking</a:t>
            </a:r>
          </a:p>
          <a:p>
            <a:pPr>
              <a:spcAft>
                <a:spcPts val="600"/>
              </a:spcAft>
              <a:defRPr sz="1200" b="0">
                <a:solidFill>
                  <a:srgbClr val="2C2C2C"/>
                </a:solidFill>
                <a:latin typeface="Segoe UI"/>
              </a:defRPr>
            </a:pPr>
            <a:r>
              <a:t>Asymmetry by design: slow-api passed staging (3/6, all warnings), caught at production by load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Multi-API Pipeline Results (Ch. 7)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2801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Defect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280160"/>
            <a:ext cx="2926080" cy="4572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Staging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28016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Production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perfect-api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82880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BDBDBD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2880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PASS (P001, P006)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82880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PASS (P001, P007)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95728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bad-docs-api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395728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BDBDBD"/>
                </a:solidFill>
                <a:latin typeface="Segoe UI"/>
              </a:defRPr>
            </a:pPr>
            <a:r>
              <a:t>No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395728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FAIL (P005 critical)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395728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-- blocked --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62656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no-auth-api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962656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BDBDBD"/>
                </a:solidFill>
                <a:latin typeface="Segoe UI"/>
              </a:defRPr>
            </a:pPr>
            <a:r>
              <a:t>No 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962656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FAIL (P005 critical)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962656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-- blocked --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29584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slow-api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529584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BDBDBD"/>
                </a:solidFill>
                <a:latin typeface="Segoe UI"/>
              </a:defRPr>
            </a:pPr>
            <a:r>
              <a:t>500ms delay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529584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PASS (3/6 warnings)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529584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FAIL (P95: 502ms &gt; 200ms)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96512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broken-api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096512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BDBDBD"/>
                </a:solidFill>
                <a:latin typeface="Segoe UI"/>
              </a:defRPr>
            </a:pPr>
            <a:r>
              <a:t>Spec mismatch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096512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FAIL (P006: 418!=200)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096512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-- blocked --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37760"/>
            <a:ext cx="10241280" cy="7315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96C7"/>
                </a:solidFill>
                <a:latin typeface="Segoe UI"/>
              </a:defRPr>
            </a:pPr>
            <a:r>
              <a:t>Only 1 of 5 APIs (20%) completed the full staging-to-production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Three-Layer Defence Model (Ch. 7)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Layer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46304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C2C2C"/>
                </a:solidFill>
                <a:latin typeface="Segoe UI"/>
              </a:defRPr>
            </a:pPr>
            <a:r>
              <a:t>Static Validation</a:t>
            </a:r>
            <a:br/>
            <a:r>
              <a:t>(P001-P005, P008)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C2C2C"/>
                </a:solidFill>
                <a:latin typeface="Segoe UI"/>
              </a:defRPr>
            </a:pPr>
            <a:r>
              <a:t>Specification</a:t>
            </a:r>
            <a:br/>
            <a:r>
              <a:t>defects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bad-docs-api</a:t>
            </a:r>
            <a:br/>
            <a:r>
              <a:t>no-auth-api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Layer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92608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C2C2C"/>
                </a:solidFill>
                <a:latin typeface="Segoe UI"/>
              </a:defRPr>
            </a:pPr>
            <a:r>
              <a:t>Functional Testing</a:t>
            </a:r>
            <a:br/>
            <a:r>
              <a:t>(P006)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92608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C2C2C"/>
                </a:solidFill>
                <a:latin typeface="Segoe UI"/>
              </a:defRPr>
            </a:pPr>
            <a:r>
              <a:t>Implementation</a:t>
            </a:r>
            <a:br/>
            <a:r>
              <a:t>defects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92608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broken-api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Layer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38912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C2C2C"/>
                </a:solidFill>
                <a:latin typeface="Segoe UI"/>
              </a:defRPr>
            </a:pPr>
            <a:r>
              <a:t>Load Testing</a:t>
            </a:r>
            <a:br/>
            <a:r>
              <a:t>(P007)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3891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C2C2C"/>
                </a:solidFill>
                <a:latin typeface="Segoe UI"/>
              </a:defRPr>
            </a:pPr>
            <a:r>
              <a:t>Performance</a:t>
            </a:r>
            <a:br/>
            <a:r>
              <a:t>defects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38912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slow-api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096C7"/>
                </a:solidFill>
                <a:latin typeface="Segoe UI"/>
              </a:defRPr>
            </a:pPr>
            <a:r>
              <a:t>"Each layer was necessary. Static validation alone would have passed slow-api and broken-api. Only the combination of all three layers provided the discrimination required." -- Ch.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Large-Scale: APIs.guru Dataset (Ch. 7)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Swagger Petstore v3 (canonical OpenAPI example, maintained by OpenAPI Initiative)</a:t>
            </a:r>
            <a:br/>
            <a:r>
              <a:t>Strict mode: 1/6 principles pass -- only P001 (structural compliance)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Why Petstore Fails (5 principles):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73152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Missing operation descriptions, parameter descriptions, response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73152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No 5xx error responses defined; error schemas lack structured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73152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String parameters lack length constraints; numeric fields lack range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73152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34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OAuth2 scopes defined but not referenced in security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73152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Segoe UI"/>
              </a:defRPr>
            </a:pPr>
            <a:r>
              <a:t>Version present + semver, but no versioning strategy / deprecation / migration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96C7"/>
                </a:solidFill>
                <a:latin typeface="Segoe UI"/>
              </a:defRPr>
            </a:pPr>
            <a:r>
              <a:t>"Even the canonical example specification maintained by the OpenAPI Initiative fails DDT's strict validation. Existing tooling validates form, not substance." -- Ch.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CI/CD Integration Metrics (Ch. 7)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CLI binary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~15 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Cross-compiled Go binary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Docker image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901952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~25 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01952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Distroless base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32304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Startup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432304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&lt;1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432304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No JVM, no runtime dependencies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62656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Validation time (strict)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962656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2-5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962656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Depends on specification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93008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XSDLC provisioning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493008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~15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93008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From CR apply to all resources 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End-to-end gate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02336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&lt;90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0233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Webhook to commit status posted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53712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Resources per XSDLC CR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553712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~44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553712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For a 3-environment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84064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C2C2C"/>
                </a:solidFill>
                <a:latin typeface="Segoe UI"/>
              </a:defRPr>
            </a:pPr>
            <a:r>
              <a:t>Helm chart size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5084064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&lt;50 KB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5084064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OCI-distributed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Operational edge cases: 6/7 passed. Sole failure: ArgoCD selfHeal restored deployment faster than test could trigger.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AI-Assisted Development (Ch.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Segoe UI"/>
              </a:defRPr>
            </a:pPr>
            <a:r>
              <a:t>Claude Code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Segoe UI"/>
              </a:defRPr>
            </a:pPr>
            <a:r>
              <a:t>total commits in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17 (41%)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Segoe UI"/>
              </a:defRPr>
            </a:pPr>
            <a:r>
              <a:t>commits Co-Authored by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7744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Segoe UI"/>
              </a:defRPr>
            </a:pPr>
            <a:r>
              <a:t>CLAUDE.md files (knowledge protocol)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Segoe UI"/>
              </a:defRPr>
            </a:pPr>
            <a:r>
              <a:t>CLAUDE.md Knowledge Protocol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ECC71"/>
                </a:solidFill>
                <a:latin typeface="Consolas"/>
              </a:defRPr>
            </a:pPr>
            <a:r>
              <a:t>Root CLAUDE.md (project vision, axioms)</a:t>
            </a:r>
            <a:br/>
            <a:r>
              <a:t>  +-- driveby-cli/CLAUDE.md (packages)</a:t>
            </a:r>
            <a:br/>
            <a:r>
              <a:t>  |   +-- principles/CLAUDE.md (interface)</a:t>
            </a:r>
            <a:br/>
            <a:r>
              <a:t>  |   +-- spec/CLAUDE.md (adapters)</a:t>
            </a:r>
            <a:br/>
            <a:r>
              <a:t>  +-- kubernetes/CLAUDE.md (XRD, Helm)</a:t>
            </a:r>
            <a:br/>
            <a:r>
              <a:t>  +-- apis/perfect-api/CLAUDE.md</a:t>
            </a:r>
            <a:br/>
            <a:r>
              <a:t>  +-- thesis/CLAUDE.md (chapter specs)</a:t>
            </a:r>
            <a:br/>
            <a:r>
              <a:t>  +-- tools/, results/, docs/, .github/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Segoe UI"/>
              </a:defRPr>
            </a:pPr>
            <a:r>
              <a:t>DDT as Agent Feedback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BDBDBD"/>
                </a:solidFill>
                <a:latin typeface="Segoe UI"/>
              </a:defRPr>
            </a:pPr>
            <a:r>
              <a:t>1. validate  --&gt; parse JSON report</a:t>
            </a:r>
          </a:p>
          <a:p>
            <a:pPr>
              <a:spcAft>
                <a:spcPts val="1000"/>
              </a:spcAft>
              <a:defRPr sz="1300" b="0">
                <a:solidFill>
                  <a:srgbClr val="BDBDBD"/>
                </a:solidFill>
                <a:latin typeface="Segoe UI"/>
              </a:defRPr>
            </a:pPr>
            <a:r>
              <a:t>2. diagnose  --&gt; identify failing principle + check</a:t>
            </a:r>
          </a:p>
          <a:p>
            <a:pPr>
              <a:spcAft>
                <a:spcPts val="1000"/>
              </a:spcAft>
              <a:defRPr sz="1300" b="0">
                <a:solidFill>
                  <a:srgbClr val="BDBDBD"/>
                </a:solidFill>
                <a:latin typeface="Segoe UI"/>
              </a:defRPr>
            </a:pPr>
            <a:r>
              <a:t>3. remediate --&gt; generate spec fix (e.g. add maxLength)</a:t>
            </a:r>
          </a:p>
          <a:p>
            <a:pPr>
              <a:spcAft>
                <a:spcPts val="1000"/>
              </a:spcAft>
              <a:defRPr sz="1300" b="0">
                <a:solidFill>
                  <a:srgbClr val="BDBDBD"/>
                </a:solidFill>
                <a:latin typeface="Segoe UI"/>
              </a:defRPr>
            </a:pPr>
            <a:r>
              <a:t>4. re-validate --&gt; confirm fix (deterministic)</a:t>
            </a:r>
          </a:p>
          <a:p>
            <a:pPr>
              <a:spcAft>
                <a:spcPts val="1000"/>
              </a:spcAft>
              <a:defRPr sz="1300" b="0">
                <a:solidFill>
                  <a:srgbClr val="BDBDBD"/>
                </a:solidFill>
                <a:latin typeface="Segoe UI"/>
              </a:defRPr>
            </a:pPr>
          </a:p>
          <a:p>
            <a:pPr>
              <a:spcAft>
                <a:spcPts val="1000"/>
              </a:spcAft>
              <a:defRPr sz="1300" b="0">
                <a:solidFill>
                  <a:srgbClr val="BDBDBD"/>
                </a:solidFill>
                <a:latin typeface="Segoe UI"/>
              </a:defRPr>
            </a:pPr>
            <a:r>
              <a:t>"Agent effectiveness scales with quality</a:t>
            </a:r>
          </a:p>
          <a:p>
            <a:pPr>
              <a:spcAft>
                <a:spcPts val="1000"/>
              </a:spcAft>
              <a:defRPr sz="1300" b="0">
                <a:solidFill>
                  <a:srgbClr val="BDBDBD"/>
                </a:solidFill>
                <a:latin typeface="Segoe UI"/>
              </a:defRPr>
            </a:pPr>
            <a:r>
              <a:t>of knowledge infrastructure, not model</a:t>
            </a:r>
          </a:p>
          <a:p>
            <a:pPr>
              <a:spcAft>
                <a:spcPts val="1000"/>
              </a:spcAft>
              <a:defRPr sz="1300" b="0">
                <a:solidFill>
                  <a:srgbClr val="BDBDBD"/>
                </a:solidFill>
                <a:latin typeface="Segoe UI"/>
              </a:defRPr>
            </a:pPr>
            <a:r>
              <a:t>capability alone." -- Ch.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Research Questions -- Answered (Ch.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100584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RQ1: Can DDT provide</a:t>
            </a:r>
            <a:br/>
            <a:r>
              <a:t>automated QA comparable</a:t>
            </a:r>
            <a:br/>
            <a:r>
              <a:t>to manual approaches?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28016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280160"/>
            <a:ext cx="4846320" cy="100584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100% detection, 0 false positives.</a:t>
            </a:r>
            <a:br/>
            <a:r>
              <a:t>Layered discrimination: each layer</a:t>
            </a:r>
            <a:br/>
            <a:r>
              <a:t>catches distinct defect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4114800" cy="100584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RQ2: Can validation rules</a:t>
            </a:r>
            <a:br/>
            <a:r>
              <a:t>be derived automatically</a:t>
            </a:r>
            <a:br/>
            <a:r>
              <a:t>from specifications?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56032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560320"/>
            <a:ext cx="4846320" cy="100584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7/9 principle checkers derive all</a:t>
            </a:r>
            <a:br/>
            <a:r>
              <a:t>validation from spec. Zero manual</a:t>
            </a:r>
            <a:br/>
            <a:r>
              <a:t>test authorship confirmed at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4114800" cy="100584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RQ3: How effectively does</a:t>
            </a:r>
            <a:br/>
            <a:r>
              <a:t>DDT integrate into</a:t>
            </a:r>
            <a:br/>
            <a:r>
              <a:t>GitOps pipelines?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84048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EFFECTIVELY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840480"/>
            <a:ext cx="4846320" cy="100584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1 CR = ~44 resources in &lt;15s.</a:t>
            </a:r>
            <a:br/>
            <a:r>
              <a:t>Surgical coexistence on production</a:t>
            </a:r>
            <a:br/>
            <a:r>
              <a:t>cluster. 5 APIs simultaneously.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4114800" cy="100584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RQ4: Can quality gates</a:t>
            </a:r>
            <a:br/>
            <a:r>
              <a:t>be expressed as ontological</a:t>
            </a:r>
            <a:br/>
            <a:r>
              <a:t>specifications?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120640"/>
            <a:ext cx="1371600" cy="100584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120640"/>
            <a:ext cx="4846320" cy="1005840"/>
          </a:xfrm>
          <a:prstGeom prst="roundRect">
            <a:avLst>
              <a:gd name="adj" fmla="val 5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C2C2C"/>
                </a:solidFill>
                <a:latin typeface="Segoe UI"/>
              </a:defRPr>
            </a:pPr>
            <a:r>
              <a:t>XSDLC = discoverable, inspectable,</a:t>
            </a:r>
            <a:br/>
            <a:r>
              <a:t>composable Kubernetes-native</a:t>
            </a:r>
            <a:br/>
            <a:r>
              <a:t>ontological specification.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Four Contributions (Ch.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DDT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3 axioms, 9 principles, 4 validation modes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Zero manual test authorship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Stable axiomatic framework, evolvable principles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Severity model: 2 critical, 7 warning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DriveBy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Go CLI: 11 packages, 7,170 LOC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APISpec abstraction (Adapter pattern)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7 principle checkers (Strategy pattern)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JSON + Markdown reports, 4-code exit 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4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XSDLC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Crossplane CRD: ~25 YAML --&gt; ~44 resources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Dual-provider: provider-kubernetes + provider-upjet-github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BYOCI: developer owns CI, XSDLC owns delivery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Level-triggered reconciliation, self-healing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4904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4. Agent-Driven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4805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CLAUDE.md knowledge protocol (16 files)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57 sessions, CI-enforced documentation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Bidirectional code &lt;--&gt; thesis traceability</a:t>
            </a:r>
          </a:p>
          <a:p>
            <a:pPr>
              <a:spcAft>
                <a:spcPts val="500"/>
              </a:spcAft>
              <a:defRPr sz="1200" b="0">
                <a:solidFill>
                  <a:srgbClr val="BDBDBD"/>
                </a:solidFill>
                <a:latin typeface="Segoe UI"/>
              </a:defRPr>
            </a:pPr>
            <a:r>
              <a:t>DDT output as agent feedback infrastructure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Segoe UI"/>
              </a:defRPr>
            </a:pPr>
            <a:r>
              <a:t>Limitations &amp; Future Work (Ch.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P006, P007: logic exists but no PrincipleChecker wrapper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P008: keyword-based matching in info.description (brittle)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OpenAPI 3.x + Swagger 2.0 only (no GraphQL, gRPC, AsyncAPI)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Static load test thresholds (no adaptive adjustment)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Evaluation: single IDP (Novelcore), public APIs may not represent enterprise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Binary pass/fail scoring (no percentage-based granularity)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Adaptive load thresholds: controller watches Prometheus metrics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Agent-driven remediation: AI parses DDT reports, fixes specs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P006/P007 as PrincipleCheckers in unified pipeline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Multi-format: GraphQL, gRPC, AsyncAPI adapters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Enterprise multi-cluster delivery patterns</a:t>
            </a:r>
          </a:p>
          <a:p>
            <a:pPr>
              <a:spcAft>
                <a:spcPts val="800"/>
              </a:spcAft>
              <a:defRPr sz="1300" b="0">
                <a:solidFill>
                  <a:srgbClr val="2C2C2C"/>
                </a:solidFill>
                <a:latin typeface="Segoe UI"/>
              </a:defRPr>
            </a:pPr>
            <a:r>
              <a:t>XSDLC as child resource of microservice provisioning operator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You stop telling the system what to do.</a:t>
            </a:r>
            <a:br/>
            <a:r>
              <a:t>You start telling it how the world should BE.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377440"/>
            <a:ext cx="301752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6C7"/>
                </a:solidFill>
                <a:latin typeface="Segoe UI"/>
              </a:defRPr>
            </a:pPr>
            <a:r>
              <a:t>From imperative scripts to ontological specifications.</a:t>
            </a:r>
            <a:br/>
            <a:r>
              <a:t>The system reconciles toward the declared state continuously,</a:t>
            </a:r>
            <a:br/>
            <a:r>
              <a:t>without human initiation, without human interpretation.</a:t>
            </a:r>
            <a:br/>
            <a:r>
              <a:t>-- Chapter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BDBD"/>
                </a:solidFill>
                <a:latin typeface="Segoe UI"/>
              </a:defRPr>
            </a:pPr>
            <a:r>
              <a:t>Quality assurance becomes a platform capability</a:t>
            </a:r>
            <a:br/>
            <a:r>
              <a:t>rather than a per-team responsibility.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DBDBD"/>
                </a:solidFill>
                <a:latin typeface="Segoe UI"/>
              </a:defRPr>
            </a:pPr>
            <a:r>
              <a:t>Petros Evangelos Triantafyllis  --  University of the Aegean  --  github.com/meter-peter/driveby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